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0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pages (M)</c:v>
                </c:pt>
              </c:strCache>
            </c:strRef>
          </c:tx>
          <c:spPr>
            <a:solidFill>
              <a:srgbClr val="3C5A7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C25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151.1</c:v>
                </c:pt>
                <c:pt idx="1">
                  <c:v>143.19999999999999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15-FC40-9114-899C9CAAC7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0"/>
          <c:min val="0"/>
        </c:scaling>
        <c:delete val="0"/>
        <c:axPos val="l"/>
        <c:majorGridlines>
          <c:spPr>
            <a:ln w="9525" cap="flat">
              <a:solidFill>
                <a:srgbClr val="E7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Kept websites (k)</c:v>
                </c:pt>
              </c:strCache>
            </c:strRef>
          </c:tx>
          <c:spPr>
            <a:solidFill>
              <a:srgbClr val="C1543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C25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498.9</c:v>
                </c:pt>
                <c:pt idx="1">
                  <c:v>455.6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C9-D849-925C-6F083CE18F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0"/>
          <c:min val="0"/>
        </c:scaling>
        <c:delete val="0"/>
        <c:axPos val="l"/>
        <c:majorGridlines>
          <c:spPr>
            <a:ln w="9525" cap="flat">
              <a:solidFill>
                <a:srgbClr val="E7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FAME</c:v>
                </c:pt>
              </c:strCache>
            </c:strRef>
          </c:tx>
          <c:spPr>
            <a:solidFill>
              <a:srgbClr val="3C5A7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5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 Agri</c:v>
                </c:pt>
                <c:pt idx="1">
                  <c:v>B Mining</c:v>
                </c:pt>
                <c:pt idx="2">
                  <c:v>C Manuf</c:v>
                </c:pt>
                <c:pt idx="3">
                  <c:v>K Finance</c:v>
                </c:pt>
                <c:pt idx="4">
                  <c:v>G Trade</c:v>
                </c:pt>
                <c:pt idx="5">
                  <c:v>J Info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97.6</c:v>
                </c:pt>
                <c:pt idx="1">
                  <c:v>94.1</c:v>
                </c:pt>
                <c:pt idx="2">
                  <c:v>92.2</c:v>
                </c:pt>
                <c:pt idx="3">
                  <c:v>85</c:v>
                </c:pt>
                <c:pt idx="4">
                  <c:v>90.4</c:v>
                </c:pt>
                <c:pt idx="5">
                  <c:v>88.9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EE-BB43-AF92-A32870BD50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set</c:v>
                </c:pt>
              </c:strCache>
            </c:strRef>
          </c:tx>
          <c:spPr>
            <a:solidFill>
              <a:srgbClr val="C1543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5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 Agri</c:v>
                </c:pt>
                <c:pt idx="1">
                  <c:v>B Mining</c:v>
                </c:pt>
                <c:pt idx="2">
                  <c:v>C Manuf</c:v>
                </c:pt>
                <c:pt idx="3">
                  <c:v>K Finance</c:v>
                </c:pt>
                <c:pt idx="4">
                  <c:v>G Trade</c:v>
                </c:pt>
                <c:pt idx="5">
                  <c:v>J Info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70.7</c:v>
                </c:pt>
                <c:pt idx="1">
                  <c:v>41.2</c:v>
                </c:pt>
                <c:pt idx="2">
                  <c:v>78.3</c:v>
                </c:pt>
                <c:pt idx="3">
                  <c:v>62.5</c:v>
                </c:pt>
                <c:pt idx="4">
                  <c:v>90.4</c:v>
                </c:pt>
                <c:pt idx="5">
                  <c:v>88.9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EE-BB43-AF92-A32870BD50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9525" cap="flat">
              <a:solidFill>
                <a:srgbClr val="E7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24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3F10-0B87-B600-FA04-AA82D254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C2E86-3226-8FD5-9C13-F7A9318C5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38E36-3FE9-1404-9746-1A0835C0A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91E0D-795A-49EF-22F0-D2C38F220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52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C5A7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3017520"/>
            <a:ext cx="2926080" cy="2926080"/>
          </a:xfrm>
          <a:prstGeom prst="ellipse">
            <a:avLst/>
          </a:prstGeom>
          <a:solidFill>
            <a:srgbClr val="C1543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100249"/>
            <a:ext cx="3291840" cy="3291840"/>
          </a:xfrm>
          <a:prstGeom prst="ellipse">
            <a:avLst/>
          </a:prstGeom>
          <a:solidFill>
            <a:srgbClr val="3C5A7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328849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GEOGRAPHICAL SCIENCES, UNIVERSITY OF BRISTOL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128449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Atlas of Economic Activities in the UK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00049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fine-grained typology of economic activities from open, large-scale web archive data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3460169"/>
            <a:ext cx="2011680" cy="0"/>
          </a:xfrm>
          <a:prstGeom prst="line">
            <a:avLst/>
          </a:prstGeom>
          <a:noFill/>
          <a:ln w="38100">
            <a:solidFill>
              <a:srgbClr val="C154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68876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Castro-Gonzalez  •  Emmanouil Tranos  •  Levi Wolf  •  Rui Zhu  •  Emerald Dilworth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24324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 web text  →  LLM-assisted taxonomy  →  postcode-level economic geography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733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industrial classifications fall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6334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Atlas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web-derived, LLM-assisted typology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5935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cluster, taxonomize, refine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553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FAME/SIC benchmarking, policy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55138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&amp; Limits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554480" y="58978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Atlas — and where it falls short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classifications can't keep 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SIC, NAICS and NACE structure the economy — but each carries the same three limitations.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resolution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categories miss specialised or emerging activities.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777240" cy="7772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1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 update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cycles lag years behind real firm activity.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03920" y="2468880"/>
            <a:ext cx="777240" cy="7772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10" dirty="0"/>
          </a:p>
        </p:txBody>
      </p:sp>
      <p:sp>
        <p:nvSpPr>
          <p:cNvPr id="18" name="Text 16"/>
          <p:cNvSpPr/>
          <p:nvPr/>
        </p:nvSpPr>
        <p:spPr>
          <a:xfrm>
            <a:off x="850392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once, rarely revisited — codes drift over time.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Websites describe activity in firms' own words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websites describe products, services and specialisation in far greater detail than conventional classifications.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480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self-updating signal of what a business actually does.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66928" cy="566928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12" dirty="0"/>
          </a:p>
        </p:txBody>
      </p:sp>
      <p:sp>
        <p:nvSpPr>
          <p:cNvPr id="9" name="Text 7"/>
          <p:cNvSpPr/>
          <p:nvPr/>
        </p:nvSpPr>
        <p:spPr>
          <a:xfrm>
            <a:off x="7040880" y="1801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detail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0" y="21579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describe their own specialisation.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880360"/>
            <a:ext cx="566928" cy="566928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7040880" y="2852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32095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by businesses, not fixed cycles.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931920"/>
            <a:ext cx="566928" cy="566928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3931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7040880" y="3904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0" y="42611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Crawl: hundreds of millions of pages.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983480"/>
            <a:ext cx="566928" cy="566928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12" dirty="0"/>
          </a:p>
        </p:txBody>
      </p:sp>
      <p:sp>
        <p:nvSpPr>
          <p:cNvPr id="21" name="Text 19"/>
          <p:cNvSpPr/>
          <p:nvPr/>
        </p:nvSpPr>
        <p:spPr>
          <a:xfrm>
            <a:off x="7040880" y="4956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53126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+ open tools throughout.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7ED14C-DF0E-4E22-D6EF-064B81A2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6376" cy="18703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1DFC21-8275-6303-C0A3-377D69B7A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382" y="0"/>
            <a:ext cx="4322618" cy="19600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0DA433-EC33-3763-FD5F-1F05AEA88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2977"/>
            <a:ext cx="4163291" cy="1469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27FE49-1E48-150D-5064-73685E157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036" y="2077251"/>
            <a:ext cx="4765963" cy="1816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6F23B0-C303-49A5-5B23-77B8771E2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96921"/>
            <a:ext cx="4890655" cy="197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2A9BC-C565-D86B-F679-76ED052AF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7784" y="3893406"/>
            <a:ext cx="5708073" cy="1132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4494AA-9080-B0A6-4F7D-ABC887B26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10" y="5318385"/>
            <a:ext cx="4163291" cy="1527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5B117-AFE7-C32B-5410-06097A8A62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3926" y="5116792"/>
            <a:ext cx="5708074" cy="174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0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web-based studies fall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777240" cy="7772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scope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sectors or territories, not the whole economy.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364992"/>
            <a:ext cx="777240" cy="7772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3246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Opaque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32461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Hard-to-inspect sources harm reproducibility.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828032"/>
            <a:ext cx="777240" cy="77724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8280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time-consistency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4709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pooled together — can't isolate change.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028805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 open, transparent, reusable framework — for the ‘whole’ economy, at a fixed point in time.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Atlas of Economic Activities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granular, dynamic, geolocated typology of UK economic activity.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823k+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websites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(2021+2024)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34747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economic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labels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postcode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34747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geolocation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778240" y="22860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34747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points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&amp; 2024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7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research and policy needing fine-grained evidence — spatially, temporally, structurally.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four-stage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 Preprocess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 → filter, geocode, clean, summarise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08960" y="34290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4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46704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9584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9584" y="29718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9584" y="37947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cluster summaries with EVoC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52744" y="34290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41"/>
                </a:solidFill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90488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3368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73368" y="29718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Taxonomy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3368" y="37947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labels per partition (TnT-LLM)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96528" y="34290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41"/>
                </a:solidFill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34272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17152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17152" y="29718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&amp; Validate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17152" y="37947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Deduplicate, merge years, validate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DATA COLLECTION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~294M webpages to a usable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business register with website information – </a:t>
            </a:r>
            <a:r>
              <a:rPr lang="en-US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project!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 released 9–10 crawls per year (2021, 2024), ~150M pages/year at the start.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14468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webpages collected </a:t>
            </a:r>
            <a:r>
              <a:rPr lang="en-US" sz="1500" b="1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(in millions)</a:t>
            </a:r>
            <a:endParaRPr lang="en-US" sz="1500" i="1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57223455"/>
              </p:ext>
            </p:extLst>
          </p:nvPr>
        </p:nvGraphicFramePr>
        <p:xfrm>
          <a:off x="502920" y="2464726"/>
          <a:ext cx="52120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214468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Websites kept after filtering </a:t>
            </a:r>
            <a:r>
              <a:rPr lang="en-US" sz="1500" b="1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(in thousands)</a:t>
            </a:r>
            <a:endParaRPr lang="en-US" sz="1500" i="1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028980443"/>
              </p:ext>
            </p:extLst>
          </p:nvPr>
        </p:nvGraphicFramePr>
        <p:xfrm>
          <a:off x="6263640" y="2464726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4815149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4952309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.co.uk domain, English text, contains a valid UK postcode, ≤10 distinct postcodes/site.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5455229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retention from raw archive to usable web text: ~0.3%.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FILTERING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deliberate design choices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91640" y="21214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to .co.uk domains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tractable, reproducible national sampling frame — .com is dominated by global organisations, costly to filter by UK-relevance. Extendable to .io / .ai.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52360" y="21214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sites with &gt;10 postcodes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large multi-site chains and directory websites — both add noise to postcode-level mapping.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CLEANING &amp; SUMMARISING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web text to a clean signal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WET text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banners and boilerplate mixed with prose.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31089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54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43400" y="20116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cleaning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43400" y="260604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(temp = 0) strips navigation &amp; noise.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31089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54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26680" y="178308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0" y="20116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summary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55280" y="260604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≤20-word, activity-focused summary.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423,278 websites (2021) and 400,897 websites (2024) with a clean summary.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PARTITIONING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and clustering summaries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embedded with all-MiniLM-L6-v2, then clustered with EVoC (UMAP + HDBSCAN-inspired).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234440" y="22311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Signature-based clusters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59689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sharing a signature form a cluster core.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234440" y="328269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Single-linkage for noise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4845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 points join their nearest labelled neighbour.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234440" y="43342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Size-bounded partitions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70001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20–4,000 docs, tuned so TnT-LLM always converges.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2194560"/>
            <a:ext cx="4892040" cy="3200400"/>
          </a:xfrm>
          <a:prstGeom prst="roundRect">
            <a:avLst>
              <a:gd name="adj" fmla="val 2857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2423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partitions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8660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partitions, 2021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0" y="2880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4400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partitions, 2024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86600" y="40690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chosen by grid search to minimise noise and variance.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TAXONOMY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TnT-LLM: taxonomy induction, iteratively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05456" cy="1737360"/>
          </a:xfrm>
          <a:prstGeom prst="roundRect">
            <a:avLst>
              <a:gd name="adj" fmla="val 5263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" y="1901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7512" y="242316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partition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N samples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08376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82696" y="1783080"/>
            <a:ext cx="2505456" cy="1737360"/>
          </a:xfrm>
          <a:prstGeom prst="roundRect">
            <a:avLst>
              <a:gd name="adj" fmla="val 5263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47288" y="1901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47288" y="242316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taxonomy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sample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88152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62472" y="1783080"/>
            <a:ext cx="2505456" cy="1737360"/>
          </a:xfrm>
          <a:prstGeom prst="roundRect">
            <a:avLst>
              <a:gd name="adj" fmla="val 5263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901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27064" y="242316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new samples,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taxonomy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67928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541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42248" y="1783080"/>
            <a:ext cx="2505456" cy="1737360"/>
          </a:xfrm>
          <a:prstGeom prst="roundRect">
            <a:avLst>
              <a:gd name="adj" fmla="val 5263"/>
            </a:avLst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06840" y="1901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06840" y="242316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taxonomy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partition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per-partition (879 + 999 runs)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5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8,127 labels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± 3.3 / partition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42976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4434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5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9,893 labels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55080" y="5349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 ± 3.4 / partition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adapts to the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2024 partitions — labels get as specific as the underlying diversity allows.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303520" cy="4315968"/>
          </a:xfrm>
          <a:prstGeom prst="roundRect">
            <a:avLst>
              <a:gd name="adj" fmla="val 2222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Services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cs typeface="Calibri" pitchFamily="34" charset="-120"/>
              </a:rPr>
              <a:t>Education Services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Services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Technology Services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cs typeface="Calibri" pitchFamily="34" charset="-120"/>
              </a:rPr>
              <a:t>Legal Services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cs typeface="Calibri" pitchFamily="34" charset="-120"/>
              </a:rPr>
              <a:t>…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349240" cy="4315968"/>
          </a:xfrm>
          <a:prstGeom prst="roundRect">
            <a:avLst>
              <a:gd name="adj" fmla="val 2222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20848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15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75120" y="25603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Lessons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Driving Courses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Learner Driving Services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Specialised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Driving Services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Online Driving Services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Refresher Courses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Driving Lessons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Driving Lessons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Plus Courses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REFINEMENT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deduplication merges look-alikes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sharing only one common word can still describe the same activity.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Driving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9202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0" y="19202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Driver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C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&lt; 0.1  ⇒  merge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66160" y="3566160"/>
            <a:ext cx="0" cy="411480"/>
          </a:xfrm>
          <a:prstGeom prst="line">
            <a:avLst/>
          </a:prstGeom>
          <a:noFill/>
          <a:ln w="25400">
            <a:solidFill>
              <a:srgbClr val="3C5A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40690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C15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40690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Lessons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20840" y="1920240"/>
            <a:ext cx="4937760" cy="3429000"/>
          </a:xfrm>
          <a:prstGeom prst="roundRect">
            <a:avLst>
              <a:gd name="adj" fmla="val 2667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95160" y="25603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partition's exemplar document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name + description + exemplar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cliques within cosine distance &lt; 0.1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label with most documents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8,127 → 6,057 labels (2021)   |   9,893 → 7,088 labels (2024)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REFINEMENT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deduplicated labels to one taxonomy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0906" y="1691640"/>
            <a:ext cx="2250671" cy="1143000"/>
          </a:xfrm>
          <a:prstGeom prst="roundRect">
            <a:avLst>
              <a:gd name="adj" fmla="val 6400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0906" y="1691640"/>
            <a:ext cx="1234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52206" y="169164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Re-embed and merge overlapping labels via a modified TnT-LLM pass.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0906" y="3017520"/>
            <a:ext cx="2250670" cy="1143000"/>
          </a:xfrm>
          <a:prstGeom prst="roundRect">
            <a:avLst>
              <a:gd name="adj" fmla="val 6400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0906" y="3017520"/>
            <a:ext cx="1234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95452" y="3017520"/>
            <a:ext cx="223612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Linguistic dedup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52206" y="301752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labels with indel similarity above 0.85.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80906" y="4343400"/>
            <a:ext cx="2250670" cy="1143000"/>
          </a:xfrm>
          <a:prstGeom prst="roundRect">
            <a:avLst>
              <a:gd name="adj" fmla="val 6400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0906" y="4343400"/>
            <a:ext cx="1234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95449" y="4343400"/>
            <a:ext cx="223612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years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52206" y="434340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 alignment of 2021 &amp; 2024 taxonomies.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02920" y="5825143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D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5825143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Final: 5,102 unified labels — 99.99% of both years classified.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5058" y="1691640"/>
            <a:ext cx="224651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Re-cluster &amp; aggregate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CSV files, openly available on OSF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 websites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5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423,233 rows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summary, postcodes, labels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103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websites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5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400,871 rows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structure to 2021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8388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58200" y="2103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taxonomy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5820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5,102 rows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58200" y="33375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description, docs/year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osf.io/fxjzq/overview     Code: public GitHub repos upon paper publication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TECHNICAL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coverage is broad &amp; consistent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363 / 363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local authorities represented — no large spatial gaps.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840480"/>
            <a:ext cx="4663440" cy="0"/>
          </a:xfrm>
          <a:prstGeom prst="line">
            <a:avLst/>
          </a:prstGeom>
          <a:noFill/>
          <a:ln w="12700">
            <a:solidFill>
              <a:srgbClr val="3C5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± 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postcode coverage ratio per authority — 80% fall in [9%, 15%].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coverage was tested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423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Postcodes cross-checked against ONS databases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maps: total vs. dataset postcodes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ratios across authorities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491B0-873A-9024-214B-548CFDDE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DC10A4-0F7E-C056-FEC0-D57B3B3646D8}"/>
              </a:ext>
            </a:extLst>
          </p:cNvPr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TECHNICAL VALIDATION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42429B5-0C78-1339-3113-4FE4D002507D}"/>
              </a:ext>
            </a:extLst>
          </p:cNvPr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E37102D-6137-286F-8D8E-33AE20AE6E4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525644-ED64-B8D6-4D59-43BB8404B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5" y="525895"/>
            <a:ext cx="7162341" cy="57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27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TECHNICAL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against FAME company records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127,120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validation firms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3C5A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113,137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2900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validation firms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SIC-section coverage: FAME vs. our test set</a:t>
            </a:r>
            <a:endParaRPr lang="en-US" sz="14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02920" y="2880360"/>
          <a:ext cx="111556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drops most for primary/secondary sectors — fewer of those firms have websites.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CASE STUDIES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Atlas adds detail SIC can't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34747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SIC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 label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Geschwender Interiors Ltd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Petroleum &amp; gas extraction support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 Design &amp; Manufacturing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Aerial Exposure Ltd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transport equipment n.e.c.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Services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Stop Europe Ltd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— motor vehicle parts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Charging Solutions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stay incentivised to describe real activity accurately — even when SIC is outdated or wrong.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POLICY BENCHMARK: UK INDUSTRIAL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— Financial Services tracks SIC well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of 40 relevant SIC codes found: 1,761 (2021) / 2,273 (2024) companies.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417913"/>
              </p:ext>
            </p:extLst>
          </p:nvPr>
        </p:nvGraphicFramePr>
        <p:xfrm>
          <a:off x="1167938" y="1920240"/>
          <a:ext cx="9825644" cy="2331720"/>
        </p:xfrm>
        <a:graphic>
          <a:graphicData uri="http://schemas.openxmlformats.org/drawingml/2006/table">
            <a:tbl>
              <a:tblPr/>
              <a:tblGrid>
                <a:gridCol w="4268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7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Atlas label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64999 — Other financial services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Services, Investment Management, Bridging and Mortgage services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66220 — Insurance agents &amp; brokers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Brokerage, Financial Services, Personal Insurance, Protection and Insurance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67938" y="4297680"/>
            <a:ext cx="9825644" cy="1737360"/>
          </a:xfrm>
          <a:prstGeom prst="roundRect">
            <a:avLst>
              <a:gd name="adj" fmla="val 5263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86397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6397" y="4892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align well with the sector — but the top label, “Financial Services”, stays fairly generic.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POLICY BENCHMARK: UK INDUSTRIAL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 2 &amp; 3 — filling gaps where SIC can't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Sciences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591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C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represented by SIC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SIC codes cover BioPharma &amp; MedTech broadly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reveal sub-specialisations (Genetic Screening, Medical Devices, AI Health)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mislabelling found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Energy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3591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SIC codes at 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across labels finds candidate firms directly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Heat Pumps, Wind, CCUS, Hydrogen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terms return false positives — needs care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1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ATLAS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it — and where it doesn't reach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Usage notes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sectors at the label level, not a single label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Keyword-search labels, then group matches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spatially, temporally, or structurally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2F4F6"/>
          </a:solidFill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C15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Limitations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census — only web-visible businesses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bias: primary industries under-represented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aren't a strict hierarchy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SIC — isn't ground truth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reusable window on the economy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D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1280160" y="16550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reproducible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data, open-source tools, a locally deployable LLM.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D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1280160" y="27523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&amp; dynamic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1363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5,102 labels at postcode resolution, across two years.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D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280160" y="38496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Complements SIC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233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detail where SIC is coarse, stale, or absent.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rgbClr val="D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280160" y="49469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533095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UK-focused today; the framework generalises readily.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of Economic Activities in the UK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C5A7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C1543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0"/>
          </a:xfrm>
          <a:prstGeom prst="line">
            <a:avLst/>
          </a:prstGeom>
          <a:noFill/>
          <a:ln w="38100">
            <a:solidFill>
              <a:srgbClr val="C154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7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leonardo.castrogonzalez@bristol.ac.uk   •   e.tranos@bristol.ac.uk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osf.io/fxjzq/overview   •   School of Geographical Sciences, University of Bristol</a:t>
            </a:r>
            <a:endParaRPr lang="en-US" sz="1350" dirty="0"/>
          </a:p>
        </p:txBody>
      </p:sp>
      <p:pic>
        <p:nvPicPr>
          <p:cNvPr id="10" name="Picture 9" descr="UKRI Logo">
            <a:extLst>
              <a:ext uri="{FF2B5EF4-FFF2-40B4-BE49-F238E27FC236}">
                <a16:creationId xmlns:a16="http://schemas.microsoft.com/office/drawing/2014/main" id="{186604AF-6ED4-9BA0-4B8A-FEF4A4C90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02280" y="5720258"/>
            <a:ext cx="3889719" cy="113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Smart Data Research UK">
            <a:extLst>
              <a:ext uri="{FF2B5EF4-FFF2-40B4-BE49-F238E27FC236}">
                <a16:creationId xmlns:a16="http://schemas.microsoft.com/office/drawing/2014/main" id="{5B2A0ADF-FC55-EBDE-238C-AC62CA720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84080" y="4379228"/>
            <a:ext cx="2407920" cy="113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1829</Words>
  <Application>Microsoft Macintosh PowerPoint</Application>
  <PresentationFormat>Widescreen</PresentationFormat>
  <Paragraphs>381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Emmanouil Tranos</cp:lastModifiedBy>
  <cp:revision>7</cp:revision>
  <dcterms:created xsi:type="dcterms:W3CDTF">2026-09-14T16:04:03Z</dcterms:created>
  <dcterms:modified xsi:type="dcterms:W3CDTF">2026-09-16T07:27:29Z</dcterms:modified>
</cp:coreProperties>
</file>